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800" r:id="rId4"/>
    <p:sldId id="2648" r:id="rId5"/>
    <p:sldId id="2798" r:id="rId6"/>
    <p:sldId id="2735" r:id="rId7"/>
    <p:sldId id="2799" r:id="rId8"/>
    <p:sldId id="2811" r:id="rId9"/>
    <p:sldId id="2820" r:id="rId10"/>
    <p:sldId id="2821" r:id="rId11"/>
    <p:sldId id="2822" r:id="rId12"/>
    <p:sldId id="2823" r:id="rId13"/>
    <p:sldId id="2824" r:id="rId14"/>
    <p:sldId id="2793" r:id="rId15"/>
    <p:sldId id="2650" r:id="rId16"/>
    <p:sldId id="2814" r:id="rId17"/>
    <p:sldId id="2816" r:id="rId18"/>
    <p:sldId id="2804" r:id="rId19"/>
    <p:sldId id="2825" r:id="rId20"/>
    <p:sldId id="2828" r:id="rId21"/>
    <p:sldId id="2826" r:id="rId22"/>
    <p:sldId id="2827" r:id="rId23"/>
    <p:sldId id="2806" r:id="rId24"/>
  </p:sldIdLst>
  <p:sldSz cx="9906000" cy="6858000" type="A4"/>
  <p:notesSz cx="6858000" cy="9144000"/>
  <p:defaultTextStyle>
    <a:defPPr>
      <a:defRPr lang="en-US"/>
    </a:defPPr>
    <a:lvl1pPr marL="0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0515" autoAdjust="0"/>
    <p:restoredTop sz="93992" autoAdjust="0"/>
  </p:normalViewPr>
  <p:slideViewPr>
    <p:cSldViewPr>
      <p:cViewPr varScale="1">
        <p:scale>
          <a:sx n="100" d="100"/>
          <a:sy n="100" d="100"/>
        </p:scale>
        <p:origin x="102" y="408"/>
      </p:cViewPr>
      <p:guideLst>
        <p:guide orient="horz" pos="2149"/>
        <p:guide pos="31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387"/>
    </p:cViewPr>
  </p:sorter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099598C8-588A-4AB5-8F63-C9E8EF230179}" type="datetime1">
              <a:rPr lang="ko-KR" altLang="en-US" smtClean="0"/>
              <a:t>2025-11-03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5BDB20B9-9CF3-436D-BD9C-06413D0D7C4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067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1" hangingPunct="1">
      <a:defRPr sz="7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20B9-9CF3-436D-BD9C-06413D0D7C4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72773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1420283"/>
            <a:ext cx="421005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590800"/>
            <a:ext cx="34671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5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2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0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8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5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3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1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8CC0-936F-48D2-9A1C-CE70CAC2C828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0627-ACC5-4E63-A414-10F36468036F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53" y="2937934"/>
            <a:ext cx="4210050" cy="908050"/>
          </a:xfrm>
        </p:spPr>
        <p:txBody>
          <a:bodyPr anchor="t"/>
          <a:lstStyle>
            <a:lvl1pPr algn="l">
              <a:defRPr sz="21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253" y="1937809"/>
            <a:ext cx="4210050" cy="1000125"/>
          </a:xfrm>
        </p:spPr>
        <p:txBody>
          <a:bodyPr anchor="b"/>
          <a:lstStyle>
            <a:lvl1pPr marL="0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1pPr>
            <a:lvl2pPr marL="247665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2pPr>
            <a:lvl3pPr marL="49533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3pPr>
            <a:lvl4pPr marL="74299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4pPr>
            <a:lvl5pPr marL="99066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5pPr>
            <a:lvl6pPr marL="123832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6pPr>
            <a:lvl7pPr marL="148599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7pPr>
            <a:lvl8pPr marL="1733657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8pPr>
            <a:lvl9pPr marL="1981322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AECC-80B4-4A3D-A078-FF87B26E6578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7775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CF4D6-4EAC-4DC3-AB45-8E3D1B3CA364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23409"/>
            <a:ext cx="218843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650" y="1449917"/>
            <a:ext cx="218843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6055" y="1023409"/>
            <a:ext cx="218929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6055" y="1449917"/>
            <a:ext cx="218929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9F2D0-F4BB-4A5E-AB25-5B3B062C7360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EB9B9-BB40-4974-B299-51B79F696C5A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6370108"/>
            <a:ext cx="1155700" cy="243417"/>
          </a:xfrm>
        </p:spPr>
        <p:txBody>
          <a:bodyPr/>
          <a:lstStyle/>
          <a:p>
            <a:fld id="{41FEC1EF-3247-44B1-BCD8-9848967A7560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>
            <a:lvl1pPr>
              <a:defRPr sz="1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82033"/>
            <a:ext cx="1629503" cy="774700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485" y="182034"/>
            <a:ext cx="2768865" cy="3902075"/>
          </a:xfrm>
        </p:spPr>
        <p:txBody>
          <a:bodyPr/>
          <a:lstStyle>
            <a:lvl1pPr>
              <a:defRPr sz="1733"/>
            </a:lvl1pPr>
            <a:lvl2pPr>
              <a:defRPr sz="1517"/>
            </a:lvl2pPr>
            <a:lvl3pPr>
              <a:defRPr sz="1300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650" y="956734"/>
            <a:ext cx="1629503" cy="31273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8BFE-A914-4004-A2EB-45BE6A8D13A7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23" y="3200400"/>
            <a:ext cx="2971800" cy="377825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70823" y="408517"/>
            <a:ext cx="2971800" cy="2743200"/>
          </a:xfrm>
        </p:spPr>
        <p:txBody>
          <a:bodyPr/>
          <a:lstStyle>
            <a:lvl1pPr marL="0" indent="0">
              <a:buNone/>
              <a:defRPr sz="1733"/>
            </a:lvl1pPr>
            <a:lvl2pPr marL="247665" indent="0">
              <a:buNone/>
              <a:defRPr sz="1517"/>
            </a:lvl2pPr>
            <a:lvl3pPr marL="495330" indent="0">
              <a:buNone/>
              <a:defRPr sz="1300"/>
            </a:lvl3pPr>
            <a:lvl4pPr marL="742996" indent="0">
              <a:buNone/>
              <a:defRPr sz="1083"/>
            </a:lvl4pPr>
            <a:lvl5pPr marL="990661" indent="0">
              <a:buNone/>
              <a:defRPr sz="1083"/>
            </a:lvl5pPr>
            <a:lvl6pPr marL="1238326" indent="0">
              <a:buNone/>
              <a:defRPr sz="1083"/>
            </a:lvl6pPr>
            <a:lvl7pPr marL="1485991" indent="0">
              <a:buNone/>
              <a:defRPr sz="1083"/>
            </a:lvl7pPr>
            <a:lvl8pPr marL="1733657" indent="0">
              <a:buNone/>
              <a:defRPr sz="1083"/>
            </a:lvl8pPr>
            <a:lvl9pPr marL="1981322" indent="0">
              <a:buNone/>
              <a:defRPr sz="108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823" y="3578225"/>
            <a:ext cx="2971800" cy="5365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F7A6-8157-4253-957F-85C0CC66868B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67160-6F5D-42FC-BE25-47346D44BCDF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0925" y="183092"/>
            <a:ext cx="1114425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183092"/>
            <a:ext cx="326072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39E1-D550-40A4-B605-FE71D060C163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8075" y="-19878"/>
            <a:ext cx="1139636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74283" tIns="74283" rIns="74283" bIns="74283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sz="858"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8576228" y="5655365"/>
            <a:ext cx="1339358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74283" tIns="74283" rIns="74283" bIns="7428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8" dirty="0"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0" y="107958"/>
            <a:ext cx="9165855" cy="67134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438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9532" y="6472309"/>
            <a:ext cx="325713" cy="365125"/>
          </a:xfrm>
          <a:prstGeom prst="rect">
            <a:avLst/>
          </a:prstGeom>
        </p:spPr>
        <p:txBody>
          <a:bodyPr/>
          <a:lstStyle>
            <a:lvl1pPr>
              <a:defRPr sz="1138"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700" y="815008"/>
            <a:ext cx="9165855" cy="5494352"/>
          </a:xfrm>
          <a:prstGeom prst="rect">
            <a:avLst/>
          </a:prstGeom>
        </p:spPr>
        <p:txBody>
          <a:bodyPr/>
          <a:lstStyle>
            <a:lvl1pPr marL="185738" indent="-185738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1463"/>
            </a:lvl1pPr>
            <a:lvl2pPr marL="557213" indent="-185738">
              <a:lnSpc>
                <a:spcPct val="120000"/>
              </a:lnSpc>
              <a:buFont typeface="시스템 서체"/>
              <a:buChar char="⁃"/>
              <a:defRPr sz="1300"/>
            </a:lvl2pPr>
            <a:lvl3pPr>
              <a:lnSpc>
                <a:spcPct val="120000"/>
              </a:lnSpc>
              <a:defRPr sz="1138"/>
            </a:lvl3pPr>
            <a:lvl4pPr>
              <a:lnSpc>
                <a:spcPct val="120000"/>
              </a:lnSpc>
              <a:defRPr sz="1138"/>
            </a:lvl4pPr>
            <a:lvl5pPr>
              <a:lnSpc>
                <a:spcPct val="120000"/>
              </a:lnSpc>
              <a:defRPr sz="1138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9" name="바닥글 개체 틀 36">
            <a:extLst>
              <a:ext uri="{FF2B5EF4-FFF2-40B4-BE49-F238E27FC236}">
                <a16:creationId xmlns:a16="http://schemas.microsoft.com/office/drawing/2014/main" id="{0FCC723C-E12E-4134-80CF-8ADAED2921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91750" y="6574971"/>
            <a:ext cx="3343275" cy="216052"/>
          </a:xfrm>
          <a:prstGeom prst="rect">
            <a:avLst/>
          </a:prstGeom>
        </p:spPr>
        <p:txBody>
          <a:bodyPr/>
          <a:lstStyle>
            <a:lvl1pPr marL="0" marR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3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데이터 분석 </a:t>
            </a:r>
            <a:r>
              <a:rPr lang="en-US" altLang="ko-KR" b="1" dirty="0"/>
              <a:t>with </a:t>
            </a:r>
            <a:r>
              <a:rPr lang="ko-KR" altLang="en-US" b="1" dirty="0"/>
              <a:t>파이썬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28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273A78-C4E7-5430-6473-0B640604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2025-11-03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37CB25-C28B-EA21-92B7-C5F5FAB7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1023E63-5E2C-1003-1BB8-0C1D911BCF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9906000" cy="9807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400" dirty="0">
                <a:solidFill>
                  <a:srgbClr val="1F51A2"/>
                </a:solidFill>
              </a:rPr>
              <a:t> 실전분석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3F4CEAD-69A6-4902-1B3B-503B7AAB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308" y="236648"/>
            <a:ext cx="8202909" cy="507433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B459A-3A9A-F030-7B01-168A3513B73F}"/>
              </a:ext>
            </a:extLst>
          </p:cNvPr>
          <p:cNvSpPr txBox="1"/>
          <p:nvPr userDrawn="1"/>
        </p:nvSpPr>
        <p:spPr>
          <a:xfrm>
            <a:off x="9266506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57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339A-44A4-A932-E492-3CDDC492B830}"/>
              </a:ext>
            </a:extLst>
          </p:cNvPr>
          <p:cNvSpPr txBox="1"/>
          <p:nvPr userDrawn="1"/>
        </p:nvSpPr>
        <p:spPr>
          <a:xfrm>
            <a:off x="8931442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251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기본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8622"/>
            <a:ext cx="9906000" cy="690471"/>
          </a:xfrm>
          <a:prstGeom prst="rect">
            <a:avLst/>
          </a:prstGeom>
          <a:solidFill>
            <a:srgbClr val="F6F983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9111458" y="6549347"/>
            <a:ext cx="794544" cy="3359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969197" y="6549347"/>
            <a:ext cx="91320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/66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8792" y="128635"/>
            <a:ext cx="8433858" cy="474663"/>
          </a:xfrm>
        </p:spPr>
        <p:txBody>
          <a:bodyPr>
            <a:noAutofit/>
          </a:bodyPr>
          <a:lstStyle>
            <a:lvl1pPr algn="l">
              <a:defRPr sz="2200" b="1" spc="-100" baseline="0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8793" y="773707"/>
            <a:ext cx="9710994" cy="5669959"/>
          </a:xfrm>
        </p:spPr>
        <p:txBody>
          <a:bodyPr>
            <a:normAutofit/>
          </a:bodyPr>
          <a:lstStyle>
            <a:lvl1pPr marL="355600" indent="-261938">
              <a:lnSpc>
                <a:spcPct val="120000"/>
              </a:lnSpc>
              <a:buClr>
                <a:srgbClr val="FFE45B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534988" indent="-177800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600"/>
            </a:lvl2pPr>
            <a:lvl3pPr marL="720725" indent="-185738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400"/>
            </a:lvl3pPr>
            <a:lvl4pPr marL="898525" indent="-177800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200"/>
            </a:lvl4pPr>
            <a:lvl5pPr marL="1077913" indent="-179388">
              <a:lnSpc>
                <a:spcPct val="120000"/>
              </a:lnSpc>
              <a:buClr>
                <a:srgbClr val="FFE45B"/>
              </a:buClr>
              <a:buFont typeface="Wingdings" panose="05000000000000000000" pitchFamily="2" charset="2"/>
              <a:buChar char="§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343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4515" y="184745"/>
            <a:ext cx="7410823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01806" y="908051"/>
            <a:ext cx="2534731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836538" y="908051"/>
            <a:ext cx="2534731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7371269" y="908051"/>
            <a:ext cx="2534731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534731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84515" y="1196752"/>
            <a:ext cx="8892988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1F51A2"/>
              </a:buClr>
              <a:buFont typeface="Wingdings" pitchFamily="2" charset="2"/>
              <a:buChar char="n"/>
              <a:defRPr sz="24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20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600"/>
            </a:lvl4pPr>
            <a:lvl5pPr marL="990600" indent="-180975"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266506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32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31442" y="6525344"/>
            <a:ext cx="70207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707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83FB4-17F9-41DF-B344-DD845FD8C34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557214" cy="893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717604" y="1345581"/>
            <a:ext cx="8994064" cy="5228062"/>
          </a:xfrm>
          <a:prstGeom prst="rect">
            <a:avLst/>
          </a:prstGeom>
        </p:spPr>
        <p:txBody>
          <a:bodyPr>
            <a:normAutofit/>
          </a:bodyPr>
          <a:lstStyle>
            <a:lvl1pPr marL="200918" indent="-200918">
              <a:buClr>
                <a:srgbClr val="083E88"/>
              </a:buClr>
              <a:buFont typeface="Wingdings" panose="05000000000000000000" pitchFamily="2" charset="2"/>
              <a:buChar char="§"/>
              <a:defRPr sz="2400"/>
            </a:lvl1pPr>
            <a:lvl2pPr marL="451842" indent="-194667">
              <a:buClr>
                <a:srgbClr val="083E88"/>
              </a:buClr>
              <a:buFont typeface="Calibri" panose="020F0502020204030204" pitchFamily="34" charset="0"/>
              <a:buChar char="‒"/>
              <a:tabLst>
                <a:tab pos="405408" algn="l"/>
              </a:tabLst>
              <a:defRPr sz="2000">
                <a:latin typeface="+mn-lt"/>
              </a:defRPr>
            </a:lvl2pPr>
            <a:lvl3pPr marL="642938" indent="-128588">
              <a:buClr>
                <a:srgbClr val="083E88"/>
              </a:buClr>
              <a:buFont typeface="Arial" panose="020B0604020202020204" pitchFamily="34" charset="0"/>
              <a:buChar char="•"/>
              <a:defRPr sz="1800"/>
            </a:lvl3pPr>
            <a:lvl4pPr marL="900113" indent="-128588">
              <a:buClr>
                <a:srgbClr val="083E88"/>
              </a:buClr>
              <a:buFont typeface="Calibri" panose="020F0502020204030204" pitchFamily="34" charset="0"/>
              <a:buChar char="‒"/>
              <a:defRPr sz="1600"/>
            </a:lvl4pPr>
            <a:lvl5pPr marL="1157288" indent="-128588">
              <a:buClr>
                <a:srgbClr val="083E88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마스터 텍스트 스타일을 편집합니다</a:t>
            </a:r>
          </a:p>
          <a:p>
            <a:pPr lvl="1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둘째 수준</a:t>
            </a:r>
          </a:p>
          <a:p>
            <a:pPr lvl="2">
              <a:buClr>
                <a:schemeClr val="accent5">
                  <a:lumMod val="50000"/>
                </a:schemeClr>
              </a:buClr>
            </a:pPr>
            <a:r>
              <a:rPr lang="ko-KR" altLang="en-US"/>
              <a:t>셋째 수준</a:t>
            </a:r>
          </a:p>
          <a:p>
            <a:pPr lvl="3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넷째 수준</a:t>
            </a:r>
          </a:p>
          <a:p>
            <a:pPr lvl="4">
              <a:buClr>
                <a:schemeClr val="accent5">
                  <a:lumMod val="50000"/>
                </a:schemeClr>
              </a:buClr>
            </a:pPr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17604" y="95251"/>
            <a:ext cx="8388697" cy="75535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800" b="1">
                <a:solidFill>
                  <a:srgbClr val="083E88"/>
                </a:solidFill>
                <a:effectLst/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1487" y="6506393"/>
            <a:ext cx="561265" cy="35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41896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0" y="183092"/>
            <a:ext cx="44577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66800"/>
            <a:ext cx="44577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F68E5-F9EE-420C-9D36-2AF32D12ABE6}" type="datetime1">
              <a:rPr lang="en-US" altLang="ko-KR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2275" y="4237567"/>
            <a:ext cx="15684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dirty="0"/>
              <a:t>ㅇㅇㅇ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9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5" r:id="rId13"/>
    <p:sldLayoutId id="2147483666" r:id="rId14"/>
    <p:sldLayoutId id="2147483667" r:id="rId15"/>
    <p:sldLayoutId id="2147483668" r:id="rId16"/>
  </p:sldLayoutIdLst>
  <p:hf hdr="0" ftr="0" dt="0"/>
  <p:txStyles>
    <p:titleStyle>
      <a:lvl1pPr algn="ctr" defTabSz="495330" rtl="0" eaLnBrk="1" latinLnBrk="0" hangingPunct="1">
        <a:spcBef>
          <a:spcPct val="0"/>
        </a:spcBef>
        <a:buNone/>
        <a:defRPr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49" indent="-185749" algn="l" defTabSz="495330" rtl="0" eaLnBrk="1" latinLnBrk="0" hangingPunct="1">
        <a:spcBef>
          <a:spcPct val="20000"/>
        </a:spcBef>
        <a:buFont typeface="Arial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56" indent="-154791" algn="l" defTabSz="495330" rtl="0" eaLnBrk="1" latinLnBrk="0" hangingPunct="1">
        <a:spcBef>
          <a:spcPct val="20000"/>
        </a:spcBef>
        <a:buFont typeface="Arial" pitchFamily="34" charset="0"/>
        <a:buChar char="–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63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28" indent="-123833" algn="l" defTabSz="495330" rtl="0" eaLnBrk="1" latinLnBrk="0" hangingPunct="1">
        <a:spcBef>
          <a:spcPct val="20000"/>
        </a:spcBef>
        <a:buFont typeface="Arial" pitchFamily="34" charset="0"/>
        <a:buChar char="–"/>
        <a:defRPr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494" indent="-123833" algn="l" defTabSz="495330" rtl="0" eaLnBrk="1" latinLnBrk="0" hangingPunct="1">
        <a:spcBef>
          <a:spcPct val="20000"/>
        </a:spcBef>
        <a:buFont typeface="Arial" pitchFamily="34" charset="0"/>
        <a:buChar char="»"/>
        <a:defRPr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15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24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48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155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65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3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299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66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2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599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657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22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23E678-365D-1207-F197-9051E3F5C390}"/>
              </a:ext>
            </a:extLst>
          </p:cNvPr>
          <p:cNvSpPr/>
          <p:nvPr/>
        </p:nvSpPr>
        <p:spPr>
          <a:xfrm>
            <a:off x="263945" y="828675"/>
            <a:ext cx="9378111" cy="52832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>
              <a:latin typeface="+mj-ea"/>
              <a:ea typeface="+mj-ea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002949" y="1463208"/>
            <a:ext cx="3855051" cy="386998"/>
            <a:chOff x="0" y="0"/>
            <a:chExt cx="1007129" cy="188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7129" cy="188170"/>
            </a:xfrm>
            <a:custGeom>
              <a:avLst/>
              <a:gdLst/>
              <a:ahLst/>
              <a:cxnLst/>
              <a:rect l="l" t="t" r="r" b="b"/>
              <a:pathLst>
                <a:path w="1007129" h="188170">
                  <a:moveTo>
                    <a:pt x="94085" y="0"/>
                  </a:moveTo>
                  <a:lnTo>
                    <a:pt x="913044" y="0"/>
                  </a:lnTo>
                  <a:cubicBezTo>
                    <a:pt x="965006" y="0"/>
                    <a:pt x="1007129" y="42123"/>
                    <a:pt x="1007129" y="94085"/>
                  </a:cubicBezTo>
                  <a:lnTo>
                    <a:pt x="1007129" y="94085"/>
                  </a:lnTo>
                  <a:cubicBezTo>
                    <a:pt x="1007129" y="119038"/>
                    <a:pt x="997217" y="142969"/>
                    <a:pt x="979573" y="160613"/>
                  </a:cubicBezTo>
                  <a:cubicBezTo>
                    <a:pt x="961928" y="178257"/>
                    <a:pt x="937997" y="188170"/>
                    <a:pt x="913044" y="188170"/>
                  </a:cubicBezTo>
                  <a:lnTo>
                    <a:pt x="94085" y="188170"/>
                  </a:lnTo>
                  <a:cubicBezTo>
                    <a:pt x="42123" y="188170"/>
                    <a:pt x="0" y="146047"/>
                    <a:pt x="0" y="94085"/>
                  </a:cubicBezTo>
                  <a:lnTo>
                    <a:pt x="0" y="94085"/>
                  </a:lnTo>
                  <a:cubicBezTo>
                    <a:pt x="0" y="42123"/>
                    <a:pt x="42123" y="0"/>
                    <a:pt x="94085" y="0"/>
                  </a:cubicBezTo>
                  <a:close/>
                </a:path>
              </a:pathLst>
            </a:custGeom>
            <a:solidFill>
              <a:srgbClr val="FF403B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07129" cy="226270"/>
            </a:xfrm>
            <a:prstGeom prst="rect">
              <a:avLst/>
            </a:prstGeom>
          </p:spPr>
          <p:txBody>
            <a:bodyPr lIns="27517" tIns="27517" rIns="27517" bIns="27517" rtlCol="0" anchor="ctr"/>
            <a:lstStyle/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endParaRPr sz="572" dirty="0">
                <a:latin typeface="+mj-ea"/>
                <a:ea typeface="+mj-ea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91606" y="1905000"/>
            <a:ext cx="7122787" cy="13207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57"/>
              </a:lnSpc>
              <a:spcBef>
                <a:spcPct val="0"/>
              </a:spcBef>
              <a:defRPr/>
            </a:pPr>
            <a:r>
              <a:rPr lang="ko-KR" altLang="en-US" sz="2000" b="1">
                <a:latin typeface="+mj-ea"/>
                <a:ea typeface="+mj-ea"/>
              </a:rPr>
              <a:t>상관관계ㆍ선형회귀ㆍ주성분ㆍ시계열 분석 기반 교통사고·부상자수 예측 연구</a:t>
            </a:r>
            <a:endParaRPr lang="ko-KR" altLang="en-US" sz="2000" b="1">
              <a:latin typeface="+mj-ea"/>
              <a:ea typeface="+mj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167976" y="1494874"/>
            <a:ext cx="3613824" cy="28630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5"/>
              </a:lnSpc>
              <a:defRPr/>
            </a:pPr>
            <a:r>
              <a:rPr lang="en-US" sz="1625">
                <a:solidFill>
                  <a:srgbClr val="ffffff"/>
                </a:solidFill>
                <a:latin typeface="+mj-ea"/>
                <a:ea typeface="+mj-ea"/>
                <a:cs typeface="DM Sans Bold"/>
                <a:sym typeface="DM Sans Bold"/>
              </a:rPr>
              <a:t>202</a:t>
            </a:r>
            <a:r>
              <a:rPr lang="en-US" altLang="ko-KR" sz="1625">
                <a:solidFill>
                  <a:srgbClr val="ffffff"/>
                </a:solidFill>
                <a:latin typeface="+mj-ea"/>
                <a:ea typeface="+mj-ea"/>
                <a:cs typeface="DM Sans Bold"/>
                <a:sym typeface="DM Sans Bold"/>
              </a:rPr>
              <a:t>5</a:t>
            </a:r>
            <a:r>
              <a:rPr lang="en-US" sz="1625">
                <a:solidFill>
                  <a:srgbClr val="ffffff"/>
                </a:solidFill>
                <a:latin typeface="+mj-ea"/>
                <a:ea typeface="+mj-ea"/>
                <a:cs typeface="DM Sans Bold"/>
                <a:sym typeface="DM Sans Bold"/>
              </a:rPr>
              <a:t> </a:t>
            </a:r>
            <a:r>
              <a:rPr lang="ko-KR" altLang="en-US" sz="1625">
                <a:solidFill>
                  <a:srgbClr val="ffffff"/>
                </a:solidFill>
                <a:latin typeface="+mj-ea"/>
                <a:ea typeface="+mj-ea"/>
                <a:cs typeface="DM Sans Bold"/>
                <a:sym typeface="DM Sans Bold"/>
              </a:rPr>
              <a:t>데이터분석 프로젝트</a:t>
            </a:r>
            <a:endParaRPr lang="ko-KR" altLang="en-US" sz="1625">
              <a:solidFill>
                <a:srgbClr val="ffffff"/>
              </a:solidFill>
              <a:latin typeface="+mj-ea"/>
              <a:ea typeface="+mj-ea"/>
              <a:cs typeface="DM Sans Bold"/>
              <a:sym typeface="DM Sans Bold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810000" y="3429000"/>
            <a:ext cx="2057400" cy="3409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700"/>
              <a:t>이름</a:t>
            </a:r>
            <a:r>
              <a:rPr lang="en-US" altLang="ko-KR" sz="1700"/>
              <a:t>:</a:t>
            </a:r>
            <a:r>
              <a:rPr lang="ko-KR" altLang="en-US" sz="1700"/>
              <a:t>이수환</a:t>
            </a:r>
            <a:endParaRPr lang="ko-KR" altLang="en-US" sz="1700"/>
          </a:p>
        </p:txBody>
      </p:sp>
      <p:sp>
        <p:nvSpPr>
          <p:cNvPr id="19" name=""/>
          <p:cNvSpPr txBox="1"/>
          <p:nvPr/>
        </p:nvSpPr>
        <p:spPr>
          <a:xfrm>
            <a:off x="3792855" y="3842385"/>
            <a:ext cx="2320290" cy="34861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700"/>
              <a:t>학번</a:t>
            </a:r>
            <a:r>
              <a:rPr lang="en-US" altLang="ko-KR" sz="1700"/>
              <a:t>:2024000629</a:t>
            </a:r>
            <a:endParaRPr lang="en-US" altLang="ko-KR" sz="1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8">
            <a:extLst>
              <a:ext uri="{FF2B5EF4-FFF2-40B4-BE49-F238E27FC236}">
                <a16:creationId xmlns:a16="http://schemas.microsoft.com/office/drawing/2014/main" id="{4AB3185A-3E67-0507-ECDC-30BA0C69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09783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  <a:latin typeface="+mj-ea"/>
                <a:ea typeface="+mj-ea"/>
              </a:rPr>
              <a:pPr/>
              <a:t>2</a:t>
            </a:fld>
            <a:endParaRPr 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1CE863-7F5D-6602-E36B-9C83E2C0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389" y="-37620"/>
            <a:ext cx="5457673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* </a:t>
            </a:r>
            <a:r>
              <a:rPr lang="ko-KR" altLang="en-US" dirty="0"/>
              <a:t>목차 </a:t>
            </a:r>
            <a:r>
              <a:rPr lang="en-US" altLang="ko-KR" dirty="0"/>
              <a:t>*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217428" y="1135378"/>
            <a:ext cx="4954772" cy="3377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  <a:defRPr/>
            </a:pPr>
            <a:r>
              <a:rPr lang="ko-KR" altLang="en-US" sz="2400">
                <a:latin typeface="+mj-ea"/>
                <a:ea typeface="+mj-ea"/>
              </a:rPr>
              <a:t>프로젝트의 목적</a:t>
            </a:r>
            <a:endParaRPr lang="ko-KR" altLang="en-US" sz="2400">
              <a:latin typeface="+mj-ea"/>
              <a:ea typeface="+mj-ea"/>
            </a:endParaRPr>
          </a:p>
          <a:p>
            <a:pPr marL="457200" indent="-457200">
              <a:buAutoNum type="arabicPeriod"/>
              <a:defRPr/>
            </a:pPr>
            <a:r>
              <a:rPr lang="ko-KR" altLang="en-US" sz="2400">
                <a:latin typeface="+mj-ea"/>
                <a:ea typeface="+mj-ea"/>
              </a:rPr>
              <a:t>데이터 생성</a:t>
            </a:r>
            <a:endParaRPr lang="ko-KR" altLang="en-US" sz="2400">
              <a:latin typeface="+mj-ea"/>
              <a:ea typeface="+mj-ea"/>
            </a:endParaRPr>
          </a:p>
          <a:p>
            <a:pPr marL="457200" indent="-457200">
              <a:buAutoNum type="arabicPeriod"/>
              <a:defRPr/>
            </a:pPr>
            <a:r>
              <a:rPr lang="ko-KR" altLang="en-US" sz="2400">
                <a:latin typeface="+mj-ea"/>
                <a:ea typeface="+mj-ea"/>
              </a:rPr>
              <a:t>데이터 정제</a:t>
            </a:r>
            <a:endParaRPr lang="ko-KR" altLang="en-US" sz="2400">
              <a:latin typeface="+mj-ea"/>
              <a:ea typeface="+mj-ea"/>
            </a:endParaRPr>
          </a:p>
          <a:p>
            <a:pPr marL="457200" indent="-457200">
              <a:buAutoNum type="arabicPeriod"/>
              <a:defRPr/>
            </a:pPr>
            <a:r>
              <a:rPr lang="ko-KR" altLang="en-US" sz="2400">
                <a:latin typeface="+mj-ea"/>
                <a:ea typeface="+mj-ea"/>
              </a:rPr>
              <a:t>상관 관계 분석</a:t>
            </a:r>
            <a:endParaRPr lang="ko-KR" altLang="en-US" sz="2400">
              <a:latin typeface="+mj-ea"/>
              <a:ea typeface="+mj-ea"/>
            </a:endParaRPr>
          </a:p>
          <a:p>
            <a:pPr marL="457200" indent="-457200">
              <a:buAutoNum type="arabicPeriod"/>
              <a:defRPr/>
            </a:pPr>
            <a:r>
              <a:rPr lang="ko-KR" altLang="en-US" sz="2400">
                <a:latin typeface="+mj-ea"/>
                <a:ea typeface="+mj-ea"/>
              </a:rPr>
              <a:t>선형회귀</a:t>
            </a:r>
            <a:endParaRPr lang="ko-KR" altLang="en-US" sz="2400"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400">
                <a:latin typeface="+mj-ea"/>
                <a:ea typeface="+mj-ea"/>
              </a:rPr>
              <a:t>6. </a:t>
            </a:r>
            <a:r>
              <a:rPr lang="ko-KR" altLang="en-US" sz="2400">
                <a:latin typeface="+mj-ea"/>
                <a:ea typeface="+mj-ea"/>
              </a:rPr>
              <a:t>주성분 분석</a:t>
            </a:r>
            <a:endParaRPr lang="ko-KR" altLang="en-US" sz="2400"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400">
                <a:latin typeface="+mj-ea"/>
                <a:ea typeface="+mj-ea"/>
              </a:rPr>
              <a:t>7.</a:t>
            </a:r>
            <a:r>
              <a:rPr lang="ko-KR" altLang="en-US" sz="2400">
                <a:latin typeface="+mj-ea"/>
                <a:ea typeface="+mj-ea"/>
              </a:rPr>
              <a:t> 시계열 분석</a:t>
            </a:r>
            <a:endParaRPr lang="ko-KR" altLang="en-US" sz="2400"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400">
                <a:latin typeface="+mj-ea"/>
                <a:ea typeface="+mj-ea"/>
              </a:rPr>
              <a:t>8.</a:t>
            </a:r>
            <a:r>
              <a:rPr lang="ko-KR" altLang="en-US" sz="2400">
                <a:latin typeface="+mj-ea"/>
                <a:ea typeface="+mj-ea"/>
              </a:rPr>
              <a:t> 데이터 분석 결과</a:t>
            </a:r>
            <a:endParaRPr lang="ko-KR" altLang="en-US" sz="2400"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400">
                <a:latin typeface="+mj-ea"/>
                <a:ea typeface="+mj-ea"/>
              </a:rPr>
              <a:t>9.</a:t>
            </a:r>
            <a:r>
              <a:rPr lang="ko-KR" altLang="en-US" sz="2400">
                <a:latin typeface="+mj-ea"/>
                <a:ea typeface="+mj-ea"/>
              </a:rPr>
              <a:t> 참고 자료</a:t>
            </a:r>
            <a:endParaRPr lang="ko-KR" altLang="en-US" sz="24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6469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A41D4BF-A261-16DA-B70A-D300199E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20" y="-29180"/>
            <a:ext cx="7256580" cy="76200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1. </a:t>
            </a:r>
            <a:r>
              <a:rPr lang="ko-KR" altLang="en-US" sz="2400" dirty="0"/>
              <a:t>프로젝트의 목적</a:t>
            </a:r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2248AC23-298D-49A6-A4D1-5CE9D53E634C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3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C384D0-621D-4731-21C3-D46CD31D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9650" y="41910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66800" y="685800"/>
            <a:ext cx="8135538" cy="552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/>
              <a:t>본 프로젝트의 목적은 연도별 교통사고 지표(사고건수, 사망자수, 부상자수) 사이의 관계를 통계적으로 분석하고,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이를 기반으로 교통사고 발생 경향을 예측할 수 있는 모델을 구축하는 것입니다.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먼저 상관관계 분석을 통해 사고건수·사망자수·부상자수 간의 연관성이 어느 정도인지를 수치적으로 확인합니다.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이후 선형 회귀 분석을 적용하여 사고건수가 증가할 때 부상자수나 사망자수가 어떻게 변화하는지를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회귀식 형태로 표현함으로써 사고지표 간의 인과적 패턴을 파악합니다.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또한 PCA(주성분 분석)를 수행하여 세 지표가 가지는 변동성을 요약하고,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교통사고 데이터의 핵심 요인을 주성분으로 도출하여 데이터 구조를 단순화하고 특성 간 영향력을 평가합니다.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마지막으로 ARIMA 시계열 분석을 통해 연도별 사고건수의 추세를 기반으로</a:t>
            </a:r>
            <a:endParaRPr lang="ko-KR" altLang="en-US" sz="1400"/>
          </a:p>
          <a:p>
            <a:pPr>
              <a:lnSpc>
                <a:spcPct val="150000"/>
              </a:lnSpc>
              <a:defRPr/>
            </a:pPr>
            <a:r>
              <a:rPr lang="ko-KR" altLang="en-US" sz="1400"/>
              <a:t>향후 교통사고 발생량을 예측하며, 이를 통해 미래 사고 발생 위험을 수치적으로 전망할 수 있습니다.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098055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6B48C172-D194-42AA-E388-94376B4B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4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567B3F-25D1-FFA3-0935-01129784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04" y="-76828"/>
            <a:ext cx="6493508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2158" y="1032967"/>
            <a:ext cx="5213042" cy="4148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highlight>
                  <a:srgbClr val="ffff00"/>
                </a:highlight>
              </a:rPr>
              <a:t>1. </a:t>
            </a:r>
            <a:r>
              <a:rPr lang="ko-KR" altLang="en-US">
                <a:highlight>
                  <a:srgbClr val="ffff00"/>
                </a:highlight>
              </a:rPr>
              <a:t>시도별 교통사고 데이터 수집을 위해 시도별 교통사고 </a:t>
            </a:r>
            <a:r>
              <a:rPr lang="en-US" altLang="ko-KR">
                <a:highlight>
                  <a:srgbClr val="ffff00"/>
                </a:highlight>
              </a:rPr>
              <a:t>2013~2023</a:t>
            </a:r>
            <a:r>
              <a:rPr lang="ko-KR" altLang="en-US">
                <a:highlight>
                  <a:srgbClr val="ffff00"/>
                </a:highlight>
              </a:rPr>
              <a:t>년 데이터 수집</a:t>
            </a:r>
            <a:endParaRPr lang="ko-KR" altLang="en-US">
              <a:highlight>
                <a:srgbClr val="ffff00"/>
              </a:highlight>
            </a:endParaRPr>
          </a:p>
          <a:p>
            <a:pPr lvl="0">
              <a:defRPr/>
            </a:pPr>
            <a:r>
              <a:rPr lang="ko-KR" altLang="en-US">
                <a:highlight>
                  <a:srgbClr val="ffff00"/>
                </a:highlight>
              </a:rPr>
              <a:t>출처</a:t>
            </a:r>
            <a:r>
              <a:rPr lang="en-US" altLang="ko-KR">
                <a:highlight>
                  <a:srgbClr val="ffff00"/>
                </a:highlight>
              </a:rPr>
              <a:t>:https://kosis.kr/ </a:t>
            </a:r>
            <a:endParaRPr lang="en-US" altLang="ko-KR">
              <a:highlight>
                <a:srgbClr val="ffff00"/>
              </a:highlight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23998" y="1688887"/>
            <a:ext cx="7239000" cy="40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49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EEEE9269-20AB-9EE8-6DA4-0E2E2E63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2484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6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9D5847-F249-0CF8-5412-A7BA2F63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04" y="-76828"/>
            <a:ext cx="6493508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2. </a:t>
            </a:r>
            <a:r>
              <a:rPr lang="ko-KR" altLang="en-US" dirty="0"/>
              <a:t>데이터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6305" y="4352990"/>
            <a:ext cx="6025094" cy="136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/>
              <a:t>이 데이터는 KOSIS(국가통계포털)에서 추출한 교통사고 통계로,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연도별 사고건수, 사망자수, 부상자수로 구성되어 있으며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총 11개 연도(2013~2023) × 3개 지표로 이루어져 있습니다.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각 컬럼은 해당 연도의 교통사고 현황을 나타내며, 값들은 모두 정수형 데이터입니다.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이 데이터를 활용하여 지표 간 상관관계 분석, 선형 회귀 분석, PCA 분석,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그리고 시계열 예측(ARIMA)까지 수행할 수 있으며,</a:t>
            </a:r>
            <a:endParaRPr lang="ko-KR" altLang="en-US" sz="1200"/>
          </a:p>
          <a:p>
            <a:pPr lvl="0">
              <a:defRPr/>
            </a:pPr>
            <a:r>
              <a:rPr lang="ko-KR" altLang="en-US" sz="1200"/>
              <a:t>특히 사고건수를 기반으로 부상자수나 사망자수를 예측하는 모델 구축이 가능합니다.</a:t>
            </a:r>
            <a:endParaRPr lang="ko-KR" altLang="en-US" sz="1200"/>
          </a:p>
        </p:txBody>
      </p:sp>
      <p:sp>
        <p:nvSpPr>
          <p:cNvPr id="3" name="TextBox 2"/>
          <p:cNvSpPr txBox="1"/>
          <p:nvPr/>
        </p:nvSpPr>
        <p:spPr>
          <a:xfrm>
            <a:off x="432957" y="756938"/>
            <a:ext cx="1353933" cy="254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highlight>
                  <a:srgbClr val="ffff00"/>
                </a:highlight>
              </a:rPr>
              <a:t>lsh2024000629.csv</a:t>
            </a:r>
            <a:endParaRPr lang="en-US" altLang="ko-KR">
              <a:highlight>
                <a:srgbClr val="ffff00"/>
              </a:highlight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1143000"/>
            <a:ext cx="4953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65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1FC3AA6E-7C2D-E46C-4F84-30F251DB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7225" y="5850526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10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E5FD79-D3F6-110A-56DE-32F37E88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04" y="-76828"/>
            <a:ext cx="6493508" cy="7620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3. </a:t>
            </a:r>
            <a:r>
              <a:rPr lang="ko-KR" altLang="en-US" dirty="0"/>
              <a:t>데이터 정제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143000"/>
            <a:ext cx="5579097" cy="822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/>
              <a:t>시도별(1) → 지역, 월별(1) → 월 로 이름을 바꿈.</a:t>
            </a:r>
            <a:endParaRPr lang="ko-KR" altLang="en-US" sz="1600"/>
          </a:p>
          <a:p>
            <a:pPr lvl="0">
              <a:defRPr/>
            </a:pPr>
            <a:r>
              <a:rPr lang="ko-KR" altLang="en-US" sz="1600"/>
              <a:t>숫자에서 콤마 제거</a:t>
            </a:r>
            <a:endParaRPr lang="ko-KR" altLang="en-US" sz="1600"/>
          </a:p>
          <a:p>
            <a:pPr lvl="0">
              <a:defRPr/>
            </a:pPr>
            <a:r>
              <a:rPr lang="ko-KR" altLang="en-US" sz="1600"/>
              <a:t>수치형 컬럼 변환</a:t>
            </a:r>
            <a:endParaRPr lang="ko-KR" altLang="en-US" sz="1600"/>
          </a:p>
        </p:txBody>
      </p:sp>
      <p:sp>
        <p:nvSpPr>
          <p:cNvPr id="11" name="화살표: 오른쪽 10"/>
          <p:cNvSpPr/>
          <p:nvPr/>
        </p:nvSpPr>
        <p:spPr>
          <a:xfrm>
            <a:off x="4800600" y="3733800"/>
            <a:ext cx="609600" cy="685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400" y="3200400"/>
            <a:ext cx="3886200" cy="2057400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38800" y="3429000"/>
            <a:ext cx="3733800" cy="1958463"/>
          </a:xfrm>
          <a:prstGeom prst="rect">
            <a:avLst/>
          </a:prstGeom>
        </p:spPr>
      </p:pic>
      <p:pic>
        <p:nvPicPr>
          <p:cNvPr id="1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05400" y="1828800"/>
            <a:ext cx="4351397" cy="1417442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1066800" y="5562600"/>
            <a:ext cx="5105400" cy="4076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이 데이터는 통계청에서 제공하는 공식 통계로,사고건수·사망자수·부상자수가모두 동일한 단위(명)와 스케일을 갖기 때문에정규화가 필요하지 않았</a:t>
            </a:r>
            <a:r>
              <a:rPr lang="ko-KR" altLang="en-US"/>
              <a:t>습니다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792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CA8EE8-F356-E2FB-4A16-4F7F678E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251589AD-BC88-B557-7D6C-2E1EF202F0D9}"/>
              </a:ext>
            </a:extLst>
          </p:cNvPr>
          <p:cNvSpPr txBox="1">
            <a:spLocks/>
          </p:cNvSpPr>
          <p:nvPr/>
        </p:nvSpPr>
        <p:spPr>
          <a:xfrm>
            <a:off x="3549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슬라이드 번호 개체 틀 18">
            <a:extLst>
              <a:ext uri="{FF2B5EF4-FFF2-40B4-BE49-F238E27FC236}">
                <a16:creationId xmlns:a16="http://schemas.microsoft.com/office/drawing/2014/main" id="{28EBB8AE-8294-9A38-7C93-279792968DD6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13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제목 1"/>
          <p:cNvSpPr txBox="1"/>
          <p:nvPr/>
        </p:nvSpPr>
        <p:spPr>
          <a:xfrm>
            <a:off x="793604" y="-76828"/>
            <a:ext cx="6493508" cy="762000"/>
          </a:xfrm>
          <a:prstGeom prst="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>
            <a:lvl1pPr algn="ctr" defTabSz="495330" rtl="0" eaLnBrk="1" latinLnBrk="0" hangingPunct="1">
              <a:spcBef>
                <a:spcPct val="0"/>
              </a:spcBef>
              <a:buNone/>
              <a:defRPr sz="238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ko-KR"/>
              <a:t>4. </a:t>
            </a:r>
            <a:r>
              <a:rPr lang="ko-KR" altLang="en-US"/>
              <a:t>상관관계 분석 </a:t>
            </a:r>
            <a:r>
              <a:rPr lang="en-US" altLang="ko-KR"/>
              <a:t>-</a:t>
            </a:r>
            <a:r>
              <a:rPr lang="ko-KR" altLang="en-US"/>
              <a:t> 피어슨 상관관계</a:t>
            </a:r>
            <a:endParaRPr lang="ko-KR" altLang="en-US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5857" y="799858"/>
            <a:ext cx="4404742" cy="2781541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53000" y="838200"/>
            <a:ext cx="4267200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28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47650" y="183092"/>
            <a:ext cx="6457950" cy="762000"/>
          </a:xfrm>
        </p:spPr>
        <p:txBody>
          <a:bodyPr/>
          <a:p>
            <a:pPr algn="l">
              <a:defRPr/>
            </a:pPr>
            <a:r>
              <a:rPr lang="en-US" altLang="ko-KR"/>
              <a:t>4. </a:t>
            </a:r>
            <a:r>
              <a:rPr lang="ko-KR" altLang="en-US"/>
              <a:t>상관관계 분석 </a:t>
            </a:r>
            <a:r>
              <a:rPr lang="en-US" altLang="ko-KR"/>
              <a:t>-</a:t>
            </a:r>
            <a:r>
              <a:rPr lang="ko-KR" altLang="en-US"/>
              <a:t> 스피어맨 상관관계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7339" y="952265"/>
            <a:ext cx="3932260" cy="2705334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14800" y="1058744"/>
            <a:ext cx="5410200" cy="50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9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95299" y="152400"/>
            <a:ext cx="4914900" cy="762000"/>
          </a:xfrm>
        </p:spPr>
        <p:txBody>
          <a:bodyPr/>
          <a:p>
            <a:pPr algn="l">
              <a:defRPr/>
            </a:pPr>
            <a:r>
              <a:rPr lang="en-US" altLang="ko-KR"/>
              <a:t>4. </a:t>
            </a:r>
            <a:r>
              <a:rPr lang="ko-KR" altLang="en-US"/>
              <a:t>상관관계 분석 </a:t>
            </a:r>
            <a:r>
              <a:rPr lang="en-US" altLang="ko-KR"/>
              <a:t>-</a:t>
            </a:r>
            <a:r>
              <a:rPr lang="ko-KR" altLang="en-US"/>
              <a:t> 켄달 상관관계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5800" y="891307"/>
            <a:ext cx="3665538" cy="2690093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43400" y="1058974"/>
            <a:ext cx="5562601" cy="474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49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algn="l">
              <a:defRPr/>
            </a:pPr>
            <a:r>
              <a:rPr lang="en-US" altLang="ko-KR"/>
              <a:t>4. </a:t>
            </a:r>
            <a:r>
              <a:rPr lang="ko-KR" altLang="en-US"/>
              <a:t>상관관계 분석 </a:t>
            </a:r>
            <a:r>
              <a:rPr lang="en-US" altLang="ko-KR"/>
              <a:t>-</a:t>
            </a:r>
            <a:r>
              <a:rPr lang="ko-KR" altLang="en-US"/>
              <a:t> 분석결과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4" name=""/>
          <p:cNvSpPr txBox="1"/>
          <p:nvPr/>
        </p:nvSpPr>
        <p:spPr>
          <a:xfrm>
            <a:off x="457199" y="1676400"/>
            <a:ext cx="7010400" cy="30079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600"/>
              <a:t>피어슨 계수는 사고건수와 부상자수 간의 가장 강한 선형적 상관관계를 보여주며, 두 지표가 거의 비례적으로 움직임을 나타냈다.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스피어만 계수 역시 높은 값을 보여, 순위(크기) 기준으로도 두 변수의 증가 패턴이 매우 유사함을 확인할 수 있었다.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켄달 계수는 상대적으로 낮지만, 변수의 방향성(증가·감소)이 일관되게 동일하다는 점을 보여준다.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전체적으로 세 방식 모두 양의 상관성을 나타내며,</a:t>
            </a:r>
            <a:endParaRPr lang="ko-KR" altLang="en-US" sz="1600"/>
          </a:p>
          <a:p>
            <a:pPr>
              <a:defRPr/>
            </a:pPr>
            <a:r>
              <a:rPr lang="ko-KR" altLang="en-US" sz="1600"/>
              <a:t>결론적으로 사고건수는 부상자수를 설명하는 데 일관적으로 중요한 예측 변수임이 세 방법 모두에서 확인되었다.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216313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28600" y="152400"/>
            <a:ext cx="2819400" cy="762000"/>
          </a:xfrm>
        </p:spPr>
        <p:txBody>
          <a:bodyPr/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선형회귀</a:t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1219200"/>
            <a:ext cx="4343400" cy="50292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10200" y="2743200"/>
            <a:ext cx="4237046" cy="2065126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5261610" y="2030730"/>
            <a:ext cx="3729990" cy="33147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600"/>
              <a:t>사건사고가 </a:t>
            </a:r>
            <a:r>
              <a:rPr lang="en-US" altLang="ko-KR" sz="1600"/>
              <a:t>3000</a:t>
            </a:r>
            <a:r>
              <a:rPr lang="ko-KR" altLang="en-US" sz="1600"/>
              <a:t>건일때 부상자수 예측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801425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04800" y="152400"/>
            <a:ext cx="3048000" cy="762000"/>
          </a:xfrm>
        </p:spPr>
        <p:txBody>
          <a:bodyPr/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 선형회귀 </a:t>
            </a:r>
            <a:r>
              <a:rPr lang="en-US" altLang="ko-KR"/>
              <a:t>-</a:t>
            </a:r>
            <a:r>
              <a:rPr lang="ko-KR" altLang="en-US"/>
              <a:t> 그래프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2743200"/>
            <a:ext cx="4808636" cy="3261642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5070" y="1143000"/>
            <a:ext cx="4115130" cy="1524000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5509260" y="3306127"/>
            <a:ext cx="4320540" cy="105441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600"/>
              <a:t>사고건수(x)와 부상자수(y)는 매우 강한 양의 상관관계를 보이며, 사고가 늘어날수록 부상자 수도 비례해 증가하는 패턴을 확인할 수 있음</a:t>
            </a:r>
            <a:r>
              <a:rPr lang="en-US" altLang="ko-KR" sz="1600"/>
              <a:t>.</a:t>
            </a: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2054408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820620" y="-29180"/>
            <a:ext cx="9085380" cy="7620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sz="2400"/>
              <a:t>6. </a:t>
            </a:r>
            <a:r>
              <a:rPr lang="ko-KR" altLang="en-US" sz="2400"/>
              <a:t>주성분 분석 </a:t>
            </a:r>
            <a:endParaRPr lang="ko-KR" altLang="en-US" sz="2400"/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6309500A-30CA-185F-779C-F1BCA94A1552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14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4BDE1A-8A14-2DDD-DCFD-E38EC88A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9650" y="4191000"/>
            <a:ext cx="11557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0600" y="1066800"/>
            <a:ext cx="4495800" cy="2484269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10199" y="963828"/>
            <a:ext cx="3352800" cy="493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02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820619" y="-29180"/>
            <a:ext cx="8938491" cy="7620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altLang="ko-KR" sz="2400"/>
              <a:t>6. </a:t>
            </a:r>
            <a:r>
              <a:rPr lang="ko-KR" altLang="en-US" sz="2400"/>
              <a:t>주성분 분석 </a:t>
            </a:r>
            <a:endParaRPr lang="ko-KR" altLang="en-US" sz="2400"/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8FF6F845-598E-8BB9-39F4-4FAA0F2774DE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15</a:t>
            </a:fld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1272" y="899059"/>
            <a:ext cx="3162528" cy="1920340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00400" y="609600"/>
            <a:ext cx="3124200" cy="3071060"/>
          </a:xfrm>
          <a:prstGeom prst="rect">
            <a:avLst/>
          </a:prstGeom>
        </p:spPr>
      </p:pic>
      <p:pic>
        <p:nvPicPr>
          <p:cNvPr id="2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3400" y="4068957"/>
            <a:ext cx="4038600" cy="2331843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4953000" y="4724400"/>
            <a:ext cx="4387214" cy="541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500"/>
              <a:t>데이터의 주요 패턴이 대부분 1개의 주성분에 담겨 있어 차원 축소 시 정보 손실이 거의 없음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2682122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1ED2A2-DF05-C3D8-2593-C4E0F66A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idx="0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en-US" altLang="ko-KR" sz="2400"/>
              <a:t>7. </a:t>
            </a:r>
            <a:r>
              <a:rPr lang="ko-KR" altLang="en-US" sz="2400"/>
              <a:t>시계열 분석</a:t>
            </a:r>
            <a:endParaRPr lang="ko-KR" altLang="en-US" sz="2400"/>
          </a:p>
        </p:txBody>
      </p:sp>
      <p:sp>
        <p:nvSpPr>
          <p:cNvPr id="6" name="슬라이드 번호 개체 틀 18">
            <a:extLst>
              <a:ext uri="{FF2B5EF4-FFF2-40B4-BE49-F238E27FC236}">
                <a16:creationId xmlns:a16="http://schemas.microsoft.com/office/drawing/2014/main" id="{BC429008-D155-D362-16D5-76B4935B146A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18</a:t>
            </a:fld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8200" y="914142"/>
            <a:ext cx="5257800" cy="3505458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542" y="4297623"/>
            <a:ext cx="4816257" cy="655376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62600" y="2362200"/>
            <a:ext cx="3932260" cy="1844199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6248400" y="1371600"/>
            <a:ext cx="3276600" cy="2838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300"/>
              <a:t>2024</a:t>
            </a:r>
            <a:r>
              <a:rPr lang="ko-KR" altLang="en-US" sz="1300"/>
              <a:t>년부터 </a:t>
            </a:r>
            <a:r>
              <a:rPr lang="en-US" altLang="ko-KR" sz="1300"/>
              <a:t>2026</a:t>
            </a:r>
            <a:r>
              <a:rPr lang="ko-KR" altLang="en-US" sz="1300"/>
              <a:t>년까지 사고건수 예측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225761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70587E6-6DB5-28EE-1535-75637B69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idx="0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en-US" altLang="ko-KR" sz="2400"/>
              <a:t>7. </a:t>
            </a:r>
            <a:r>
              <a:rPr lang="ko-KR" altLang="en-US" sz="2400"/>
              <a:t>시계열 분석 </a:t>
            </a:r>
            <a:r>
              <a:rPr lang="en-US" altLang="ko-KR" sz="2400"/>
              <a:t>-</a:t>
            </a:r>
            <a:r>
              <a:rPr lang="ko-KR" altLang="en-US" sz="2400"/>
              <a:t> 그래프</a:t>
            </a:r>
            <a:endParaRPr lang="ko-KR" altLang="en-US" sz="2400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586514"/>
            <a:ext cx="5181600" cy="2461486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3200400"/>
            <a:ext cx="5730736" cy="3520745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6019800" y="3810000"/>
            <a:ext cx="3657600" cy="8172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600"/>
              <a:t>ARIMA 모델 예측 결과, 2024~2026 사고건수는 큰 변동 없이 완만한 감소 흐름을 유지하는 것으로 나타났음. 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169421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en-US" altLang="ko-KR" sz="2400"/>
              <a:t>8. </a:t>
            </a:r>
            <a:r>
              <a:rPr lang="ko-KR" altLang="en-US" sz="2400"/>
              <a:t>데이터분석 결과</a:t>
            </a:r>
            <a:endParaRPr lang="ko-KR" altLang="en-US" sz="2400"/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B61E9FB2-F458-AB21-12CC-BE7F1C7E3BA9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21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204" y="762000"/>
            <a:ext cx="8589630" cy="526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/>
              <a:t>1)</a:t>
            </a:r>
            <a:r>
              <a:rPr lang="ko-KR" altLang="en-US" sz="2000"/>
              <a:t>상관관계 분석 (피어슨 / 스피어맨 / 켄달)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사고건수와 부상자수는 모든 상관계수(피어슨·스피어맨·켄달)에서 0.6~0.9 수준의 강한 양의 상관관계를 보임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사고가 증가하면 부상자도 함께 증가하는 구조가 매우 뚜렷함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연도별로도 상관계수가 꾸준히 높게 유지됨 → 두 변수는 안정적 관계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2) 선형회귀 분석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회귀식에서 기울기가 양수 → 사고건수가 많을수록 부상자수가 증가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실제 데이터와 회귀선이 거의 일치 → 부상자수 예측에 활용 가능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예측 정확도가 매우 높아 단일 모델로도 충분히 설명 가능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823408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algn="l">
              <a:defRPr/>
            </a:pPr>
            <a:r>
              <a:rPr lang="en-US" altLang="ko-KR"/>
              <a:t>8. </a:t>
            </a:r>
            <a:r>
              <a:rPr lang="ko-KR" altLang="en-US"/>
              <a:t>데이터분석 결과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  <p:sp>
        <p:nvSpPr>
          <p:cNvPr id="4" name=""/>
          <p:cNvSpPr txBox="1"/>
          <p:nvPr/>
        </p:nvSpPr>
        <p:spPr>
          <a:xfrm>
            <a:off x="457200" y="1059179"/>
            <a:ext cx="8229600" cy="495871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3)</a:t>
            </a:r>
            <a:r>
              <a:rPr lang="ko-KR" altLang="en-US" sz="2000"/>
              <a:t>주성분 분석(PCA)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사고건수와 부상자수 모두 정보가 대부분 1개의 주성분에 집중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제1주성분 설명력이 99% 이상 → 데이터 구조가 단순해서 PCA 활용 필요성 낮음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차원 축소 효과보다 시각화용 참고에 적합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4) 시계열 분석(ARIMA)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2013~2023 사고건수 흐름을 학습해 향후 사고건수 예측 가능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ARIMA 예측 결과는 실제 추세와 자연스럽게 이어짐</a:t>
            </a:r>
            <a:endParaRPr lang="ko-KR" altLang="en-US" sz="2000"/>
          </a:p>
          <a:p>
            <a:pPr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 sz="2000"/>
              <a:t>더 정확한 예측을 원하면 SARIMAX(계절성 반영) 모델 적용 가능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3884723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0" y="228599"/>
            <a:ext cx="2971800" cy="762000"/>
          </a:xfrm>
        </p:spPr>
        <p:txBody>
          <a:bodyPr/>
          <a:p>
            <a:pPr>
              <a:defRPr/>
            </a:pPr>
            <a:r>
              <a:rPr lang="ko-KR" altLang="en-US"/>
              <a:t>최종 결론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4" name=""/>
          <p:cNvSpPr txBox="1"/>
          <p:nvPr/>
        </p:nvSpPr>
        <p:spPr>
          <a:xfrm>
            <a:off x="571499" y="1828800"/>
            <a:ext cx="8763001" cy="25298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본 프로젝트에서는 사고건수와 부상자수 사이에 매우 강한 양의 상관관계가 존재함을 확인하였다.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선형회귀 분석 결과, 사고건수가 증가하면 부상자수도 거의 비례해 증가하여 높은 예측력을 보였다.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반면, 사고건수의 연도별 패턴은 일정하지 않아 시계열 분석에서는 장기 예측의 어려움이 나타났다.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종합적으로, 부상자수 예측에는 사고건수가 가장 중요한 설명변수이며, 사고건수 자체의 추세 예측은 추가적인 모델 개선이 필요하다.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280574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ko-KR" altLang="en-US"/>
              <a:t>선형회귀 </a:t>
            </a:r>
            <a:r>
              <a:rPr lang="en-US" altLang="ko-KR"/>
              <a:t>vs </a:t>
            </a:r>
            <a:r>
              <a:rPr lang="ko-KR" altLang="en-US"/>
              <a:t>시계열 비교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4" name=""/>
          <p:cNvSpPr txBox="1"/>
          <p:nvPr/>
        </p:nvSpPr>
        <p:spPr>
          <a:xfrm>
            <a:off x="754378" y="1295400"/>
            <a:ext cx="8397242" cy="269367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900"/>
              <a:t> 선형회귀:</a:t>
            </a:r>
            <a:endParaRPr lang="ko-KR" altLang="en-US" sz="1900"/>
          </a:p>
          <a:p>
            <a:pPr>
              <a:defRPr/>
            </a:pPr>
            <a:endParaRPr lang="ko-KR" altLang="en-US" sz="1900"/>
          </a:p>
          <a:p>
            <a:pPr>
              <a:defRPr/>
            </a:pPr>
            <a:r>
              <a:rPr lang="ko-KR" altLang="en-US" sz="1900"/>
              <a:t>두 변수(사고건수–부상자수) 사이의 관계는 매우 뚜렷하고 직선형 패턴 존재</a:t>
            </a:r>
            <a:endParaRPr lang="ko-KR" altLang="en-US" sz="1900"/>
          </a:p>
          <a:p>
            <a:pPr>
              <a:defRPr/>
            </a:pPr>
            <a:r>
              <a:rPr lang="ko-KR" altLang="en-US" sz="1900"/>
              <a:t>→ 강한 상관 + 높은 예측력</a:t>
            </a:r>
            <a:endParaRPr lang="ko-KR" altLang="en-US" sz="1900"/>
          </a:p>
          <a:p>
            <a:pPr>
              <a:defRPr/>
            </a:pPr>
            <a:endParaRPr lang="ko-KR" altLang="en-US" sz="1900"/>
          </a:p>
          <a:p>
            <a:pPr>
              <a:defRPr/>
            </a:pPr>
            <a:r>
              <a:rPr lang="ko-KR" altLang="en-US" sz="1900"/>
              <a:t> 시계열 분석:</a:t>
            </a:r>
            <a:endParaRPr lang="ko-KR" altLang="en-US" sz="1900"/>
          </a:p>
          <a:p>
            <a:pPr>
              <a:defRPr/>
            </a:pPr>
            <a:endParaRPr lang="ko-KR" altLang="en-US" sz="1900"/>
          </a:p>
          <a:p>
            <a:pPr>
              <a:defRPr/>
            </a:pPr>
            <a:r>
              <a:rPr lang="ko-KR" altLang="en-US" sz="1900"/>
              <a:t>사고건수 자체는 연도별로 규칙적이지 않은 변동성을 보임</a:t>
            </a:r>
            <a:endParaRPr lang="ko-KR" altLang="en-US" sz="1900"/>
          </a:p>
          <a:p>
            <a:pPr>
              <a:defRPr/>
            </a:pPr>
            <a:r>
              <a:rPr lang="ko-KR" altLang="en-US" sz="1900"/>
              <a:t>→ 추세가 일정하지 않아 예측 난이도↑</a:t>
            </a:r>
            <a:endParaRPr lang="ko-KR" altLang="en-US" sz="1900"/>
          </a:p>
        </p:txBody>
      </p:sp>
    </p:spTree>
    <p:extLst>
      <p:ext uri="{BB962C8B-B14F-4D97-AF65-F5344CB8AC3E}">
        <p14:creationId xmlns:p14="http://schemas.microsoft.com/office/powerpoint/2010/main" val="1833466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47650" y="183092"/>
            <a:ext cx="5772150" cy="762000"/>
          </a:xfrm>
        </p:spPr>
        <p:txBody>
          <a:bodyPr/>
          <a:p>
            <a:pPr>
              <a:defRPr/>
            </a:pPr>
            <a:r>
              <a:rPr lang="ko-KR" altLang="en-US"/>
              <a:t>정규화와 이상치 제거를 하지 않은 이유</a:t>
            </a:r>
            <a:endParaRPr lang="ko-KR" alt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4" name=""/>
          <p:cNvSpPr txBox="1"/>
          <p:nvPr/>
        </p:nvSpPr>
        <p:spPr>
          <a:xfrm>
            <a:off x="381000" y="1066800"/>
            <a:ext cx="7454265" cy="276987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600" b="1"/>
              <a:t>정규화를 하지 않은 이유</a:t>
            </a:r>
            <a:r>
              <a:rPr lang="en-US" altLang="ko-KR" sz="1600" b="1"/>
              <a:t>:</a:t>
            </a:r>
            <a:endParaRPr lang="en-US" altLang="ko-KR" sz="1600" b="1"/>
          </a:p>
          <a:p>
            <a:pPr>
              <a:defRPr/>
            </a:pPr>
            <a:endParaRPr lang="en-US" altLang="ko-KR" sz="1600" b="1"/>
          </a:p>
          <a:p>
            <a:pPr>
              <a:defRPr/>
            </a:pPr>
            <a:r>
              <a:rPr lang="ko-KR" altLang="en-US" sz="1600"/>
              <a:t>두 변수(사고건수·부상자수)의 단위와 스케일이 비슷해 정규화 효과가 크지 않음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실제 값을 그대로 쓰는 것이 해석에 더 직관적임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 b="1"/>
              <a:t>이상치 제거를 하지 않은 이유</a:t>
            </a:r>
            <a:r>
              <a:rPr lang="en-US" altLang="ko-KR" sz="1600" b="1"/>
              <a:t>:</a:t>
            </a:r>
            <a:endParaRPr lang="en-US" altLang="ko-KR" sz="1600" b="1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두 변수(사고건수·부상자수)의 단위와 스케일이 비슷해 정규화 효과가 크지 않음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실제 값을 그대로 쓰는 것이 해석에 더 직관적임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417468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A657FF-C280-8AEF-A333-8B96DA122A5F}"/>
              </a:ext>
            </a:extLst>
          </p:cNvPr>
          <p:cNvSpPr/>
          <p:nvPr/>
        </p:nvSpPr>
        <p:spPr>
          <a:xfrm>
            <a:off x="263944" y="638374"/>
            <a:ext cx="9378111" cy="5943600"/>
          </a:xfrm>
          <a:prstGeom prst="rect">
            <a:avLst/>
          </a:prstGeom>
          <a:solidFill>
            <a:schemeClr val="bg1"/>
          </a:solidFill>
          <a:ln w="88900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2" dirty="0"/>
          </a:p>
        </p:txBody>
      </p:sp>
      <p:sp>
        <p:nvSpPr>
          <p:cNvPr id="8" name="제목 1"/>
          <p:cNvSpPr>
            <a:spLocks noGrp="1"/>
          </p:cNvSpPr>
          <p:nvPr>
            <p:ph type="title" idx="0"/>
          </p:nvPr>
        </p:nvSpPr>
        <p:spPr>
          <a:xfrm>
            <a:off x="820696" y="153594"/>
            <a:ext cx="9161580" cy="400110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en-US" altLang="ko-KR" sz="2400"/>
              <a:t>9. </a:t>
            </a:r>
            <a:r>
              <a:rPr lang="ko-KR" altLang="en-US" sz="2400"/>
              <a:t>참고자료</a:t>
            </a:r>
            <a:endParaRPr lang="ko-KR" altLang="en-US" sz="2400"/>
          </a:p>
        </p:txBody>
      </p:sp>
      <p:sp>
        <p:nvSpPr>
          <p:cNvPr id="10" name="슬라이드 번호 개체 틀 18">
            <a:extLst>
              <a:ext uri="{FF2B5EF4-FFF2-40B4-BE49-F238E27FC236}">
                <a16:creationId xmlns:a16="http://schemas.microsoft.com/office/drawing/2014/main" id="{EE5E3735-0BFD-02BC-E8DD-A472A83B1C43}"/>
              </a:ext>
            </a:extLst>
          </p:cNvPr>
          <p:cNvSpPr txBox="1">
            <a:spLocks/>
          </p:cNvSpPr>
          <p:nvPr/>
        </p:nvSpPr>
        <p:spPr>
          <a:xfrm>
            <a:off x="8229600" y="6248400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536387" rtl="0" eaLnBrk="1" latinLnBrk="0" hangingPunct="1">
              <a:defRPr sz="6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819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387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58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2774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4096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161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7355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5548" algn="l" defTabSz="536387" rtl="0" eaLnBrk="1" latinLnBrk="0" hangingPunct="1">
              <a:defRPr sz="10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23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0700" y="869373"/>
            <a:ext cx="8589630" cy="527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/>
              <a:t>1)</a:t>
            </a:r>
            <a:r>
              <a:rPr lang="ko-KR" altLang="en-US" sz="2000"/>
              <a:t>블로그 </a:t>
            </a:r>
            <a:endParaRPr lang="ko-KR" altLang="en-US" sz="2000"/>
          </a:p>
          <a:p>
            <a:pPr lvl="0">
              <a:defRPr/>
            </a:pPr>
            <a:r>
              <a:rPr lang="en-US" altLang="ko-KR" sz="2000"/>
              <a:t>   https://melifluo.tistory.com/10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2)</a:t>
            </a:r>
            <a:r>
              <a:rPr lang="ko-KR" altLang="en-US" sz="2000"/>
              <a:t>유튜브</a:t>
            </a:r>
            <a:endParaRPr lang="ko-KR" altLang="en-US" sz="2000"/>
          </a:p>
          <a:p>
            <a:pPr lvl="0">
              <a:defRPr/>
            </a:pPr>
            <a:r>
              <a:rPr lang="en-US" altLang="ko-KR" sz="2000"/>
              <a:t>   X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3) </a:t>
            </a:r>
            <a:r>
              <a:rPr lang="ko-KR" altLang="en-US" sz="2000"/>
              <a:t>생성형</a:t>
            </a:r>
            <a:r>
              <a:rPr lang="en-US" altLang="ko-KR" sz="2000"/>
              <a:t>(AI)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4) </a:t>
            </a:r>
            <a:r>
              <a:rPr lang="ko-KR" altLang="en-US" sz="2000"/>
              <a:t>사이트</a:t>
            </a:r>
            <a:endParaRPr lang="ko-KR" altLang="en-US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ko-KR" altLang="en-US" sz="2000"/>
              <a:t>이외에는 수업 자료를 참고하였습니다</a:t>
            </a:r>
            <a:r>
              <a:rPr lang="en-US" altLang="ko-KR" sz="2000"/>
              <a:t>. 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</p:txBody>
      </p:sp>
      <p:sp>
        <p:nvSpPr>
          <p:cNvPr id="2" name="TextBox 1"/>
          <p:cNvSpPr txBox="1"/>
          <p:nvPr/>
        </p:nvSpPr>
        <p:spPr>
          <a:xfrm>
            <a:off x="732637" y="3429000"/>
            <a:ext cx="7268362" cy="283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/>
              <a:t>피어슨</a:t>
            </a:r>
            <a:r>
              <a:rPr lang="en-US" altLang="ko-KR" sz="1300"/>
              <a:t>,</a:t>
            </a:r>
            <a:r>
              <a:rPr lang="ko-KR" altLang="en-US" sz="1300"/>
              <a:t>스피어맨</a:t>
            </a:r>
            <a:r>
              <a:rPr lang="en-US" altLang="ko-KR" sz="1300"/>
              <a:t>,</a:t>
            </a:r>
            <a:r>
              <a:rPr lang="ko-KR" altLang="en-US" sz="1300"/>
              <a:t>켄달을 년도마다 계산된 값을 다 보이게 하고 싶어</a:t>
            </a:r>
            <a:r>
              <a:rPr lang="en-US" altLang="ko-KR" sz="1300"/>
              <a:t>.</a:t>
            </a:r>
            <a:r>
              <a:rPr lang="ko-KR" altLang="en-US" sz="1300"/>
              <a:t> </a:t>
            </a:r>
            <a:r>
              <a:rPr lang="en-US" altLang="ko-KR" sz="1300"/>
              <a:t>-&gt;</a:t>
            </a:r>
            <a:r>
              <a:rPr lang="ko-KR" altLang="en-US" sz="1300"/>
              <a:t>선형회귀 분석할 때 사용</a:t>
            </a:r>
            <a:endParaRPr lang="ko-KR" altLang="en-US" sz="1300"/>
          </a:p>
        </p:txBody>
      </p:sp>
      <p:sp>
        <p:nvSpPr>
          <p:cNvPr id="7" name="TextBox 6"/>
          <p:cNvSpPr txBox="1"/>
          <p:nvPr/>
        </p:nvSpPr>
        <p:spPr>
          <a:xfrm>
            <a:off x="838200" y="3136612"/>
            <a:ext cx="136286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/>
              <a:t>주제 추천 해줘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1" name="TextBox 10"/>
          <p:cNvSpPr txBox="1"/>
          <p:nvPr/>
        </p:nvSpPr>
        <p:spPr>
          <a:xfrm>
            <a:off x="762000" y="4925787"/>
            <a:ext cx="7371069" cy="408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https://kosis.kr/statHtml/statHtml.do?sso=ok&amp;returnurl=https%3A%2F%2Fkosis.kr%3A443%2FstatHtml%2FstatHtml.do%3FtblId%3DTX_35001_A005%26orgId%3D350%26</a:t>
            </a:r>
            <a:endParaRPr lang="en-US" altLang="ko-KR"/>
          </a:p>
        </p:txBody>
      </p:sp>
      <p:sp>
        <p:nvSpPr>
          <p:cNvPr id="13" name=""/>
          <p:cNvSpPr txBox="1"/>
          <p:nvPr/>
        </p:nvSpPr>
        <p:spPr>
          <a:xfrm>
            <a:off x="803908" y="3733800"/>
            <a:ext cx="3516632" cy="28384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300"/>
              <a:t>원본 데이터를 데이터 분석하기 쉽게 바꿔줘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4" name=""/>
          <p:cNvSpPr txBox="1"/>
          <p:nvPr/>
        </p:nvSpPr>
        <p:spPr>
          <a:xfrm>
            <a:off x="838200" y="4038600"/>
            <a:ext cx="5638801" cy="2647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200"/>
              <a:t>시계열 분석한거 </a:t>
            </a:r>
            <a:r>
              <a:rPr lang="en-US" altLang="ko-KR" sz="1200"/>
              <a:t>2024</a:t>
            </a:r>
            <a:r>
              <a:rPr lang="ko-KR" altLang="en-US" sz="1200"/>
              <a:t>년부터 </a:t>
            </a:r>
            <a:r>
              <a:rPr lang="en-US" altLang="ko-KR" sz="1200"/>
              <a:t>2026</a:t>
            </a:r>
            <a:r>
              <a:rPr lang="ko-KR" altLang="en-US" sz="1200"/>
              <a:t>년까지 한번에 보이게 해줘</a:t>
            </a:r>
            <a:r>
              <a:rPr lang="en-US" altLang="ko-KR" sz="1200"/>
              <a:t>.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729812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684</ep:Words>
  <ep:PresentationFormat>A4 용지(210x297mm)</ep:PresentationFormat>
  <ep:Paragraphs>178</ep:Paragraphs>
  <ep:Slides>22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Office Theme</vt:lpstr>
      <vt:lpstr>슬라이드 1</vt:lpstr>
      <vt:lpstr>* 목차 *</vt:lpstr>
      <vt:lpstr>1. 프로젝트의 목적</vt:lpstr>
      <vt:lpstr>2. 데이터 생성</vt:lpstr>
      <vt:lpstr>2. 데이터 생성</vt:lpstr>
      <vt:lpstr>3. 데이터 정제</vt:lpstr>
      <vt:lpstr>슬라이드 7</vt:lpstr>
      <vt:lpstr>4. 상관관계 분석 - 스피어맨 상관관계</vt:lpstr>
      <vt:lpstr>4. 상관관계 분석 - 켄달 상관관계</vt:lpstr>
      <vt:lpstr>4. 상관관계 분석 - 분석결과</vt:lpstr>
      <vt:lpstr>5.선형회귀</vt:lpstr>
      <vt:lpstr>5. 선형회귀 - 그래프</vt:lpstr>
      <vt:lpstr>6. 주성분 분석</vt:lpstr>
      <vt:lpstr>6. 주성분 분석</vt:lpstr>
      <vt:lpstr>7. 시계열 분석</vt:lpstr>
      <vt:lpstr>7. 시계열 분석 - 그래프</vt:lpstr>
      <vt:lpstr>8. 데이터분석 결과</vt:lpstr>
      <vt:lpstr>8. 데이터분석 결과</vt:lpstr>
      <vt:lpstr>최종 결론</vt:lpstr>
      <vt:lpstr>선형회귀 vs 시계열 비교</vt:lpstr>
      <vt:lpstr>정규화와 이상치 제거를 하지 않은 이유</vt:lpstr>
      <vt:lpstr>9. 참고자료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sujko</dc:creator>
  <cp:lastModifiedBy>leeco</cp:lastModifiedBy>
  <dcterms:modified xsi:type="dcterms:W3CDTF">2025-12-01T03:26:42.896</dcterms:modified>
  <cp:revision>598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